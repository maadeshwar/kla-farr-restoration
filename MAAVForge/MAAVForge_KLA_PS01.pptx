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0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er Institutional Inclusive  Innovations Center" userId="8f0f2a58-4f3c-47a5-9304-113b24e1e584" providerId="ADAL" clId="{7C429524-839A-4DDC-9EAA-B9B6CA7C8F65}"/>
    <pc:docChg chg="undo custSel modSld addMainMaster delMainMaster modMainMaster">
      <pc:chgData name="Inter Institutional Inclusive  Innovations Center" userId="8f0f2a58-4f3c-47a5-9304-113b24e1e584" providerId="ADAL" clId="{7C429524-839A-4DDC-9EAA-B9B6CA7C8F65}" dt="2026-07-24T04:52:03.139" v="215" actId="20577"/>
      <pc:docMkLst>
        <pc:docMk/>
      </pc:docMkLst>
      <pc:sldChg chg="addSp delSp modSp mod">
        <pc:chgData name="Inter Institutional Inclusive  Innovations Center" userId="8f0f2a58-4f3c-47a5-9304-113b24e1e584" providerId="ADAL" clId="{7C429524-839A-4DDC-9EAA-B9B6CA7C8F65}" dt="2026-07-24T04:52:03.139" v="215" actId="20577"/>
        <pc:sldMkLst>
          <pc:docMk/>
          <pc:sldMk cId="0" sldId="256"/>
        </pc:sldMkLst>
        <pc:spChg chg="mod">
          <ac:chgData name="Inter Institutional Inclusive  Innovations Center" userId="8f0f2a58-4f3c-47a5-9304-113b24e1e584" providerId="ADAL" clId="{7C429524-839A-4DDC-9EAA-B9B6CA7C8F65}" dt="2026-07-24T04:52:03.139" v="215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19.958" v="117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49:50.859" v="169" actId="1076"/>
          <ac:picMkLst>
            <pc:docMk/>
            <pc:sldMk cId="0" sldId="256"/>
            <ac:picMk id="5" creationId="{8BB4234F-3583-BFF9-C279-17614D0CF451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4T04:49:34.965" v="164" actId="478"/>
          <ac:picMkLst>
            <pc:docMk/>
            <pc:sldMk cId="0" sldId="256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8:56.841" v="162" actId="478"/>
          <ac:picMkLst>
            <pc:docMk/>
            <pc:sldMk cId="0" sldId="256"/>
            <ac:picMk id="21" creationId="{39800F03-85D7-C539-AC1F-E617F255427D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18.033" v="116" actId="478"/>
          <ac:picMkLst>
            <pc:docMk/>
            <pc:sldMk cId="0" sldId="256"/>
            <ac:picMk id="24" creationId="{49E19F6C-7A17-044F-4D35-5AE5900A884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03.416" v="173" actId="1076"/>
        <pc:sldMkLst>
          <pc:docMk/>
          <pc:sldMk cId="0" sldId="257"/>
        </pc:sldMkLst>
        <pc:spChg chg="del">
          <ac:chgData name="Inter Institutional Inclusive  Innovations Center" userId="8f0f2a58-4f3c-47a5-9304-113b24e1e584" providerId="ADAL" clId="{7C429524-839A-4DDC-9EAA-B9B6CA7C8F65}" dt="2026-07-23T09:23:50.752" v="142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3:55" v="144" actId="1076"/>
          <ac:spMkLst>
            <pc:docMk/>
            <pc:sldMk cId="0" sldId="257"/>
            <ac:spMk id="70" creationId="{780937B3-EB04-4CBA-C636-AF115BC1E358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34.301" v="122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03.416" v="173" actId="1076"/>
          <ac:picMkLst>
            <pc:docMk/>
            <pc:sldMk cId="0" sldId="257"/>
            <ac:picMk id="5" creationId="{5F67FE6B-8CE4-2744-DE3C-E456350E62E4}"/>
          </ac:picMkLst>
        </pc:picChg>
        <pc:picChg chg="add del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36.011" v="123" actId="478"/>
          <ac:picMkLst>
            <pc:docMk/>
            <pc:sldMk cId="0" sldId="257"/>
            <ac:picMk id="67" creationId="{C1D8EFAA-60C4-F885-3CF5-29E5275B845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8" creationId="{923CF78D-2057-EB74-919F-879D8B37DC53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9.267" v="171" actId="478"/>
          <ac:picMkLst>
            <pc:docMk/>
            <pc:sldMk cId="0" sldId="257"/>
            <ac:picMk id="72" creationId="{E669829C-7B29-A7D1-ED99-C5F19C5072C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7.485" v="170" actId="478"/>
          <ac:picMkLst>
            <pc:docMk/>
            <pc:sldMk cId="0" sldId="257"/>
            <ac:picMk id="74" creationId="{BEAA2AA5-66C7-EAD6-3C1C-DA0576C000F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0.912" v="177" actId="1076"/>
        <pc:sldMkLst>
          <pc:docMk/>
          <pc:sldMk cId="0" sldId="258"/>
        </pc:sldMkLst>
        <pc:spChg chg="del">
          <ac:chgData name="Inter Institutional Inclusive  Innovations Center" userId="8f0f2a58-4f3c-47a5-9304-113b24e1e584" providerId="ADAL" clId="{7C429524-839A-4DDC-9EAA-B9B6CA7C8F65}" dt="2026-07-23T09:24:02.229" v="145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4:05.052" v="147" actId="1076"/>
          <ac:spMkLst>
            <pc:docMk/>
            <pc:sldMk cId="0" sldId="258"/>
            <ac:spMk id="22" creationId="{8B3789FB-4EC6-29BB-8AB4-B514BCE88A9C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10.912" v="177" actId="1076"/>
          <ac:picMkLst>
            <pc:docMk/>
            <pc:sldMk cId="0" sldId="258"/>
            <ac:picMk id="5" creationId="{AFA5626A-1768-0BB6-2B3B-C29607998D96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8.485" v="175" actId="478"/>
          <ac:picMkLst>
            <pc:docMk/>
            <pc:sldMk cId="0" sldId="258"/>
            <ac:picMk id="24" creationId="{AE24B99B-8E01-F8B4-8ED1-D996CB7F0C9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6.767" v="174" actId="478"/>
          <ac:picMkLst>
            <pc:docMk/>
            <pc:sldMk cId="0" sldId="258"/>
            <ac:picMk id="26" creationId="{D2A8A9BE-1E15-DD99-FB54-E04C51A447DD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8.005" v="181" actId="1076"/>
        <pc:sldMkLst>
          <pc:docMk/>
          <pc:sldMk cId="0" sldId="259"/>
        </pc:sldMkLst>
        <pc:spChg chg="add mod">
          <ac:chgData name="Inter Institutional Inclusive  Innovations Center" userId="8f0f2a58-4f3c-47a5-9304-113b24e1e584" providerId="ADAL" clId="{7C429524-839A-4DDC-9EAA-B9B6CA7C8F65}" dt="2026-07-23T09:24:11.057" v="149" actId="1076"/>
          <ac:spMkLst>
            <pc:docMk/>
            <pc:sldMk cId="0" sldId="259"/>
            <ac:spMk id="25" creationId="{82B7216B-04F1-E2CC-935F-9AA2CE5B9E4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18.005" v="181" actId="1076"/>
          <ac:picMkLst>
            <pc:docMk/>
            <pc:sldMk cId="0" sldId="259"/>
            <ac:picMk id="26" creationId="{7743FE56-9400-E309-F93C-96E3C8B4AF8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5.027" v="179" actId="478"/>
          <ac:picMkLst>
            <pc:docMk/>
            <pc:sldMk cId="0" sldId="259"/>
            <ac:picMk id="27" creationId="{B357A1E6-99F0-E990-223D-B058F179008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3.204" v="178" actId="478"/>
          <ac:picMkLst>
            <pc:docMk/>
            <pc:sldMk cId="0" sldId="259"/>
            <ac:picMk id="29" creationId="{9072229F-1CE5-750A-DBFD-9C4A88BAFE15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28.242" v="186" actId="1076"/>
        <pc:sldMkLst>
          <pc:docMk/>
          <pc:sldMk cId="0" sldId="260"/>
        </pc:sldMkLst>
        <pc:spChg chg="add mod">
          <ac:chgData name="Inter Institutional Inclusive  Innovations Center" userId="8f0f2a58-4f3c-47a5-9304-113b24e1e584" providerId="ADAL" clId="{7C429524-839A-4DDC-9EAA-B9B6CA7C8F65}" dt="2026-07-23T09:24:18.395" v="151" actId="1076"/>
          <ac:spMkLst>
            <pc:docMk/>
            <pc:sldMk cId="0" sldId="260"/>
            <ac:spMk id="22" creationId="{50164B49-38DE-6195-0A8B-DC6EC6DA245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28.242" v="186" actId="1076"/>
          <ac:picMkLst>
            <pc:docMk/>
            <pc:sldMk cId="0" sldId="260"/>
            <ac:picMk id="23" creationId="{18A68BD0-3127-AC0B-80B4-CA2643B37A2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3.735" v="183" actId="478"/>
          <ac:picMkLst>
            <pc:docMk/>
            <pc:sldMk cId="0" sldId="260"/>
            <ac:picMk id="24" creationId="{3A18E54B-D9A5-D8F4-1F47-CC79C92D1FC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1.102" v="182" actId="478"/>
          <ac:picMkLst>
            <pc:docMk/>
            <pc:sldMk cId="0" sldId="260"/>
            <ac:picMk id="26" creationId="{EFBAF213-417A-8EA4-B3CD-8E1992EDDC8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35.583" v="190" actId="1076"/>
        <pc:sldMkLst>
          <pc:docMk/>
          <pc:sldMk cId="0" sldId="261"/>
        </pc:sldMkLst>
        <pc:spChg chg="add mod">
          <ac:chgData name="Inter Institutional Inclusive  Innovations Center" userId="8f0f2a58-4f3c-47a5-9304-113b24e1e584" providerId="ADAL" clId="{7C429524-839A-4DDC-9EAA-B9B6CA7C8F65}" dt="2026-07-23T09:24:23.028" v="153" actId="1076"/>
          <ac:spMkLst>
            <pc:docMk/>
            <pc:sldMk cId="0" sldId="261"/>
            <ac:spMk id="25" creationId="{BB3A3471-21A6-8A80-8399-32E98C63F186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35.583" v="190" actId="1076"/>
          <ac:picMkLst>
            <pc:docMk/>
            <pc:sldMk cId="0" sldId="261"/>
            <ac:picMk id="26" creationId="{1ADA517E-8996-A444-E540-A2F9B8F98D2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2.232" v="188" actId="478"/>
          <ac:picMkLst>
            <pc:docMk/>
            <pc:sldMk cId="0" sldId="261"/>
            <ac:picMk id="27" creationId="{D9C2C2E0-4D39-89DE-E3C8-3CF1DCD3752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0.421" v="187" actId="478"/>
          <ac:picMkLst>
            <pc:docMk/>
            <pc:sldMk cId="0" sldId="261"/>
            <ac:picMk id="29" creationId="{3BBCC248-868C-340C-0FAD-CA376B1FC8FE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42.239" v="194" actId="1076"/>
        <pc:sldMkLst>
          <pc:docMk/>
          <pc:sldMk cId="0" sldId="262"/>
        </pc:sldMkLst>
        <pc:spChg chg="add mod">
          <ac:chgData name="Inter Institutional Inclusive  Innovations Center" userId="8f0f2a58-4f3c-47a5-9304-113b24e1e584" providerId="ADAL" clId="{7C429524-839A-4DDC-9EAA-B9B6CA7C8F65}" dt="2026-07-23T09:24:26.189" v="155" actId="1076"/>
          <ac:spMkLst>
            <pc:docMk/>
            <pc:sldMk cId="0" sldId="262"/>
            <ac:spMk id="27" creationId="{850BA2BE-D607-619F-6960-A71277019D3B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42.239" v="194" actId="1076"/>
          <ac:picMkLst>
            <pc:docMk/>
            <pc:sldMk cId="0" sldId="262"/>
            <ac:picMk id="28" creationId="{C5D3E59C-FE74-F0BE-9B10-98C8003398B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9.769" v="192" actId="478"/>
          <ac:picMkLst>
            <pc:docMk/>
            <pc:sldMk cId="0" sldId="262"/>
            <ac:picMk id="29" creationId="{D1CD71D8-80DC-E089-7F84-F870CA82999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7.857" v="191" actId="478"/>
          <ac:picMkLst>
            <pc:docMk/>
            <pc:sldMk cId="0" sldId="262"/>
            <ac:picMk id="31" creationId="{32772FAA-6737-736E-57F5-863D0C30C83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13.043" v="199" actId="1076"/>
        <pc:sldMkLst>
          <pc:docMk/>
          <pc:sldMk cId="0" sldId="263"/>
        </pc:sldMkLst>
        <pc:spChg chg="add mod">
          <ac:chgData name="Inter Institutional Inclusive  Innovations Center" userId="8f0f2a58-4f3c-47a5-9304-113b24e1e584" providerId="ADAL" clId="{7C429524-839A-4DDC-9EAA-B9B6CA7C8F65}" dt="2026-07-23T09:24:31.594" v="157" actId="1076"/>
          <ac:spMkLst>
            <pc:docMk/>
            <pc:sldMk cId="0" sldId="263"/>
            <ac:spMk id="31" creationId="{10B6379C-1BCE-6784-4600-934501FC5F9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13.043" v="199" actId="1076"/>
          <ac:picMkLst>
            <pc:docMk/>
            <pc:sldMk cId="0" sldId="263"/>
            <ac:picMk id="32" creationId="{0D18A824-BCDE-0A33-4245-E3C168F9E6DD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6.281" v="196" actId="478"/>
          <ac:picMkLst>
            <pc:docMk/>
            <pc:sldMk cId="0" sldId="263"/>
            <ac:picMk id="33" creationId="{ADD1E958-165B-D6F5-A64F-04FCD64E2147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4.546" v="195" actId="478"/>
          <ac:picMkLst>
            <pc:docMk/>
            <pc:sldMk cId="0" sldId="263"/>
            <ac:picMk id="35" creationId="{6BADDDF0-0612-EB5D-5A8F-EFB7179CFC4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8.815" v="207" actId="1076"/>
        <pc:sldMkLst>
          <pc:docMk/>
          <pc:sldMk cId="0" sldId="267"/>
        </pc:sldMkLst>
        <pc:spChg chg="add mod">
          <ac:chgData name="Inter Institutional Inclusive  Innovations Center" userId="8f0f2a58-4f3c-47a5-9304-113b24e1e584" providerId="ADAL" clId="{7C429524-839A-4DDC-9EAA-B9B6CA7C8F65}" dt="2026-07-23T09:24:40.860" v="161" actId="1076"/>
          <ac:spMkLst>
            <pc:docMk/>
            <pc:sldMk cId="0" sldId="267"/>
            <ac:spMk id="32" creationId="{3E27E131-AC1D-E75C-0267-02565ACC1BC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8.815" v="207" actId="1076"/>
          <ac:picMkLst>
            <pc:docMk/>
            <pc:sldMk cId="0" sldId="267"/>
            <ac:picMk id="33" creationId="{1D876DBE-D402-1B41-B952-69F6F5BF98C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6.339" v="205" actId="478"/>
          <ac:picMkLst>
            <pc:docMk/>
            <pc:sldMk cId="0" sldId="267"/>
            <ac:picMk id="34" creationId="{3207B916-D916-65B2-E15B-7B8E518A4CF1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4.437" v="204" actId="478"/>
          <ac:picMkLst>
            <pc:docMk/>
            <pc:sldMk cId="0" sldId="267"/>
            <ac:picMk id="36" creationId="{73F6D37F-F5F4-6581-D4C3-0D6D2153AEF3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2.013" v="203" actId="1076"/>
        <pc:sldMkLst>
          <pc:docMk/>
          <pc:sldMk cId="0" sldId="268"/>
        </pc:sldMkLst>
        <pc:spChg chg="add mod">
          <ac:chgData name="Inter Institutional Inclusive  Innovations Center" userId="8f0f2a58-4f3c-47a5-9304-113b24e1e584" providerId="ADAL" clId="{7C429524-839A-4DDC-9EAA-B9B6CA7C8F65}" dt="2026-07-23T09:24:36.582" v="159" actId="1076"/>
          <ac:spMkLst>
            <pc:docMk/>
            <pc:sldMk cId="0" sldId="268"/>
            <ac:spMk id="30" creationId="{89A93441-4E5C-0FCA-6BDD-16AB2E1B711C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2.013" v="203" actId="1076"/>
          <ac:picMkLst>
            <pc:docMk/>
            <pc:sldMk cId="0" sldId="268"/>
            <ac:picMk id="31" creationId="{73E0C32B-9271-FA34-86BB-7D95EB5AB34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9.304" v="201" actId="478"/>
          <ac:picMkLst>
            <pc:docMk/>
            <pc:sldMk cId="0" sldId="268"/>
            <ac:picMk id="32" creationId="{10A4E146-7FDB-FFE9-9526-3614562D8544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7.385" v="200" actId="478"/>
          <ac:picMkLst>
            <pc:docMk/>
            <pc:sldMk cId="0" sldId="268"/>
            <ac:picMk id="34" creationId="{616214A5-37D4-FB21-7202-26AFB342A299}"/>
          </ac:picMkLst>
        </pc:picChg>
      </pc:sldChg>
      <pc:sldMasterChg chg="modSldLayout">
        <pc:chgData name="Inter Institutional Inclusive  Innovations Center" userId="8f0f2a58-4f3c-47a5-9304-113b24e1e584" providerId="ADAL" clId="{7C429524-839A-4DDC-9EAA-B9B6CA7C8F65}" dt="2026-07-23T09:22:53.132" v="135" actId="1076"/>
        <pc:sldMasterMkLst>
          <pc:docMk/>
          <pc:sldMasterMk cId="0" sldId="2147483648"/>
        </pc:sldMasterMkLst>
        <pc:sldLayoutChg chg="addSp delSp modSp mod">
          <pc:chgData name="Inter Institutional Inclusive  Innovations Center" userId="8f0f2a58-4f3c-47a5-9304-113b24e1e584" providerId="ADAL" clId="{7C429524-839A-4DDC-9EAA-B9B6CA7C8F65}" dt="2026-07-23T09:22:53.132" v="135" actId="1076"/>
          <pc:sldLayoutMkLst>
            <pc:docMk/>
            <pc:sldMasterMk cId="0" sldId="2147483648"/>
            <pc:sldLayoutMk cId="0" sldId="2147483649"/>
          </pc:sldLayoutMkLst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3" creationId="{670500D5-0C61-D368-3EA8-B0D70E76267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7" creationId="{8554604A-67D5-8651-A136-D9C527FB2A3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9" creationId="{29E90E54-6D65-ECF5-20F4-778E2350593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1" creationId="{070086D7-78C3-0DC3-34DD-D68141DA954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3" creationId="{A2E77B92-8008-BEFB-D609-FA2E3D4355C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5" creationId="{BDA6C487-A013-0BDD-3256-B049C59B30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7" creationId="{86CA69B4-C6E5-E2E4-A86B-E8053E9874F3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3" creationId="{4C7FD9C6-DB86-B335-81D3-D5591274E04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5" creationId="{9C2348A3-50E7-9624-EAF4-9ACFD3ABE5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7" creationId="{F81BDED9-60D5-649E-4AB6-5A7B541D9AA0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31" creationId="{2BD26DD0-A441-CDA1-C7C4-500C0B482AE4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47" creationId="{A5833BA1-7E68-EA56-E2F4-8F8311ABF75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49" creationId="{B9BD3167-D5BD-8B40-4555-84C7BD065A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57" creationId="{5061D844-37EB-548D-B973-C8018E42C215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65" creationId="{FDE11816-BE8D-2EA8-403C-EDD897CC888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7" creationId="{3779CD17-0018-CC60-6D0F-0933639C8E8F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9" creationId="{C8A72EB2-0C41-D852-59DA-E4EA48C4DC76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83" creationId="{6C9218A1-D90A-BA12-EF63-1B92669F6E38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85" creationId="{449C0B3C-3475-D922-9A12-C029E001B10F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3" creationId="{08A80940-BD2D-E549-ED9D-34BC817068A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5" creationId="{FECC3D97-6F4A-BC31-16FB-164D35CAFD27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9" creationId="{C6F62233-28CA-F7F7-27B0-76ED806DEE15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13" creationId="{3329D229-D178-066B-8117-18D8EC7F337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127" creationId="{F0D528F7-9BB6-65AC-0918-282E384814E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1" creationId="{EB893E23-FB1A-0D77-F65C-392B3A91CBBC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3" creationId="{A26E93F0-C6F6-73C1-E4FF-8B898B8250A6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53" creationId="{07D1DC4B-8695-07D8-8056-6A8BA7F332F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87" creationId="{FCA5CCE8-8E73-82EE-CB6B-ADB25409BFB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1" creationId="{500422FC-A5C6-6331-8965-69B3A3D859E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3" creationId="{85DE142B-F8AA-47A6-E761-6329FF37BFB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03" creationId="{5871EDFA-DBCB-D39E-C0AB-2C0B81A5382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13" creationId="{CBE53BBA-B6A7-D74B-87C7-2C5D8EEAA454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31" creationId="{E6A3F812-3BF4-9336-E57D-860E6A54F3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45" creationId="{68E228AD-385E-7895-2F11-2E8E1A4C209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53" creationId="{B226F5B6-1373-9263-48EC-924CF9FC868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69" creationId="{8C9230A6-A4D4-2C36-7EB2-ADA9A45F2699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79" creationId="{4F0EF51C-A9EC-FDE9-5978-4FD26B7D03A8}"/>
            </ac:spMkLst>
          </pc:spChg>
          <pc:picChg chg="mod">
            <ac:chgData name="Inter Institutional Inclusive  Innovations Center" userId="8f0f2a58-4f3c-47a5-9304-113b24e1e584" providerId="ADAL" clId="{7C429524-839A-4DDC-9EAA-B9B6CA7C8F65}" dt="2026-07-23T09:22:39.795" v="132" actId="1076"/>
            <ac:picMkLst>
              <pc:docMk/>
              <pc:sldMasterMk cId="0" sldId="2147483648"/>
              <pc:sldLayoutMk cId="0" sldId="2147483649"/>
              <ac:picMk id="33" creationId="{9C02DD19-DD7E-1634-0056-B0B673F6409D}"/>
            </ac:picMkLst>
          </pc:picChg>
          <pc:picChg chg="add mod">
            <ac:chgData name="Inter Institutional Inclusive  Innovations Center" userId="8f0f2a58-4f3c-47a5-9304-113b24e1e584" providerId="ADAL" clId="{7C429524-839A-4DDC-9EAA-B9B6CA7C8F65}" dt="2026-07-23T09:22:53.132" v="135" actId="1076"/>
            <ac:picMkLst>
              <pc:docMk/>
              <pc:sldMasterMk cId="0" sldId="2147483648"/>
              <pc:sldLayoutMk cId="0" sldId="2147483649"/>
              <ac:picMk id="282" creationId="{BD66A30C-A2DE-61B6-8B7B-4CF622680E59}"/>
            </ac:picMkLst>
          </pc:picChg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4.733" v="137" actId="6938"/>
        <pc:sldMasterMkLst>
          <pc:docMk/>
          <pc:sldMasterMk cId="1023542986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72539884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4814556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921258258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884839122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399709954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808508738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108363411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53536990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624862031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82232363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931480772" sldId="2147483661"/>
          </pc:sldLayoutMkLst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8.103" v="139" actId="6938"/>
        <pc:sldMasterMkLst>
          <pc:docMk/>
          <pc:sldMasterMk cId="1372952111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105982335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008508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77606852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208342861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96227509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80754746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973874357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68563839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165239747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58272975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622961263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0.jpe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10.jpe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10.jpe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10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4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</a:rPr>
              <a:t>MAAVForge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Aptos"/>
              </a:rPr>
              <a:t>Maadeshwar DV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3</a:t>
            </a:r>
            <a:r>
              <a:rPr lang="en-US" sz="1100" i="1" baseline="30000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rd</a:t>
            </a: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 year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Aptos"/>
              </a:rPr>
              <a:t>Ankana Datta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3</a:t>
            </a:r>
            <a:r>
              <a:rPr lang="en-US" sz="1100" i="1" baseline="30000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rd</a:t>
            </a: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 year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Aptos"/>
              </a:rPr>
              <a:t>Anirudh JP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3</a:t>
            </a:r>
            <a:r>
              <a:rPr lang="en-US" sz="1100" i="1" baseline="30000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rd</a:t>
            </a: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 year</a:t>
            </a: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Aptos"/>
              </a:rPr>
              <a:t>Vanshita Patil</a:t>
            </a:r>
            <a:endParaRPr lang="en-US" sz="1100" dirty="0"/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3</a:t>
            </a:r>
            <a:r>
              <a:rPr lang="en-US" sz="1100" i="1" baseline="30000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rd</a:t>
            </a: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 year</a:t>
            </a: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923544" y="5152644"/>
            <a:ext cx="3688690" cy="276148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500" b="0" dirty="0">
                <a:solidFill>
                  <a:srgbClr val="FFFFFF"/>
                </a:solidFill>
                <a:latin typeface="Aptos"/>
              </a:rPr>
              <a:t>Vellore Institute of Technology, Chennai</a:t>
            </a:r>
            <a:endParaRPr lang="en-US" sz="15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+91 9962345456</a:t>
            </a:r>
            <a:endParaRPr lang="en-US" sz="1400" dirty="0"/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31235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maadeshwar.2024@vitstudent.ac.in</a:t>
            </a:r>
            <a:endParaRPr lang="en-US" sz="13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8" y="3193085"/>
            <a:ext cx="9207094" cy="316382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2000" b="1" dirty="0">
                <a:solidFill>
                  <a:srgbClr val="FFFFFF"/>
                </a:solidFill>
                <a:latin typeface="Aptos"/>
              </a:rPr>
              <a:t>AI-Based Restoration of Degraded Images</a:t>
            </a:r>
            <a:r>
              <a:rPr lang="en-IN" sz="2000" b="1" dirty="0">
                <a:solidFill>
                  <a:srgbClr val="FFFFFF"/>
                </a:solidFill>
                <a:latin typeface="Aptos"/>
              </a:rPr>
              <a:t> for Semiconductor Inspection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961949" y="3768242"/>
            <a:ext cx="10267798" cy="2613356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6" y="4044849"/>
            <a:ext cx="2365553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5001311"/>
            <a:ext cx="8968435" cy="505663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600" b="0" dirty="0">
                <a:solidFill>
                  <a:srgbClr val="FFFFFF"/>
                </a:solidFill>
                <a:latin typeface="Aptos"/>
              </a:rPr>
              <a:t>Semiconductor inspection images contain microscopic structures where even small amounts of noise or lost resolution can hide defects.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MAAVForge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restores degraded grayscale images by jointly suppressing speckle and Gaussian-like noise while reconstructing 2× spatial resolution.</a:t>
            </a:r>
            <a:br>
              <a:rPr sz="1600" dirty="0"/>
            </a:br>
            <a:br>
              <a:rPr sz="1600" dirty="0"/>
            </a:br>
            <a:r>
              <a:rPr sz="1600" b="0" dirty="0">
                <a:solidFill>
                  <a:srgbClr val="FFFFFF"/>
                </a:solidFill>
                <a:latin typeface="Aptos"/>
              </a:rPr>
              <a:t>The objective is to recover sharp, inspection-relevant detail from a degraded 128×128 input and reconstruct a clean 256×256 output, while remaining robust to unseen image sources.</a:t>
            </a:r>
            <a:endParaRPr lang="en-US" sz="1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494182" y="1871191"/>
            <a:ext cx="11162995" cy="4811573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29875" y="2049170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24102" y="221963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2757246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61949" y="2757247"/>
            <a:ext cx="10267798" cy="1585823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063064" y="3044444"/>
            <a:ext cx="312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063064" y="3768433"/>
            <a:ext cx="7677302" cy="219456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400" b="0" dirty="0">
                <a:solidFill>
                  <a:srgbClr val="FFFFFF"/>
                </a:solidFill>
                <a:latin typeface="Aptos"/>
              </a:rPr>
              <a:t>Frequency-Aware </a:t>
            </a:r>
            <a:r>
              <a:rPr sz="1400" b="0" dirty="0" err="1">
                <a:solidFill>
                  <a:srgbClr val="FFFFFF"/>
                </a:solidFill>
                <a:latin typeface="Aptos"/>
              </a:rPr>
              <a:t>NAFNet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-SR: a single end-to-end restoration network that learns denoising and 2× super-resolution together. </a:t>
            </a:r>
            <a:r>
              <a:rPr sz="1400" b="0" dirty="0" err="1">
                <a:solidFill>
                  <a:srgbClr val="FFFFFF"/>
                </a:solidFill>
                <a:latin typeface="Aptos"/>
              </a:rPr>
              <a:t>NAFNet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is lightweight and efficient, while frequency-aware learning helps preserve genuine microscopic edges instead of simply smoothing noise.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61949" y="4630267"/>
            <a:ext cx="10267798" cy="1668933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24102" y="4810720"/>
            <a:ext cx="22267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063064" y="5528901"/>
            <a:ext cx="8458200" cy="219456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400" b="0" dirty="0">
                <a:solidFill>
                  <a:srgbClr val="FFFFFF"/>
                </a:solidFill>
                <a:latin typeface="Aptos"/>
              </a:rPr>
              <a:t>Pipeline: Noisy 128×128 input → </a:t>
            </a:r>
            <a:r>
              <a:rPr sz="1400" b="0" dirty="0" err="1">
                <a:solidFill>
                  <a:srgbClr val="FFFFFF"/>
                </a:solidFill>
                <a:latin typeface="Aptos"/>
              </a:rPr>
              <a:t>NAFNet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encoder–decoder → </a:t>
            </a:r>
            <a:r>
              <a:rPr sz="1400" b="0" dirty="0" err="1">
                <a:solidFill>
                  <a:srgbClr val="FFFFFF"/>
                </a:solidFill>
                <a:latin typeface="Aptos"/>
              </a:rPr>
              <a:t>PixelShuffle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×2 + bicubic residual → restored 256×256 output.</a:t>
            </a:r>
            <a:br>
              <a:rPr sz="1400" dirty="0"/>
            </a:br>
            <a:r>
              <a:rPr sz="1400" b="0" dirty="0">
                <a:solidFill>
                  <a:srgbClr val="FFFFFF"/>
                </a:solidFill>
                <a:latin typeface="Aptos"/>
              </a:rPr>
              <a:t>It addresses speckle, Gaussian-like degradation and resolution loss simultaneously. At inference, 8-fold geometric test-time augmentation improves robustness by averaging inverse-transformed predictions.</a:t>
            </a:r>
            <a:endParaRPr lang="en-US" sz="1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8" y="3053639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154681"/>
            <a:ext cx="10267798" cy="3226918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 rot="10800000" flipV="1">
            <a:off x="1200602" y="3374137"/>
            <a:ext cx="2650037" cy="202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dirty="0"/>
          </a:p>
        </p:txBody>
      </p:sp>
      <p:sp>
        <p:nvSpPr>
          <p:cNvPr id="19" name="Text 13"/>
          <p:cNvSpPr txBox="1"/>
          <p:nvPr/>
        </p:nvSpPr>
        <p:spPr>
          <a:xfrm>
            <a:off x="1200602" y="4597553"/>
            <a:ext cx="8996782" cy="505663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600" b="0" dirty="0">
                <a:solidFill>
                  <a:srgbClr val="FFFFFF"/>
                </a:solidFill>
                <a:latin typeface="Aptos"/>
              </a:rPr>
              <a:t>Architecture: Conv (1→32) → encoder with 2/2/4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NAFBlocks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→ 6-block bottleneck → decoder with 4/2/2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NAFBlocks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→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PixelShuffle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×2 + bicubic residual.</a:t>
            </a:r>
            <a:br>
              <a:rPr sz="1600" dirty="0"/>
            </a:br>
            <a:br>
              <a:rPr sz="1600" dirty="0"/>
            </a:br>
            <a:r>
              <a:rPr sz="1600" b="0" dirty="0">
                <a:solidFill>
                  <a:srgbClr val="FFFFFF"/>
                </a:solidFill>
                <a:latin typeface="Aptos"/>
              </a:rPr>
              <a:t>Training: 2,880 paired images, 320 validation images,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AdamW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, cosine annealing, AMP, gradient clipping and early stopping. Paired augmentation uses horizontal/vertical flips and 90° rotations.</a:t>
            </a:r>
            <a:br>
              <a:rPr sz="1600" dirty="0"/>
            </a:br>
            <a:br>
              <a:rPr sz="1600" dirty="0"/>
            </a:br>
            <a:r>
              <a:rPr sz="1600" b="0" dirty="0">
                <a:solidFill>
                  <a:srgbClr val="FFFFFF"/>
                </a:solidFill>
                <a:latin typeface="Aptos"/>
              </a:rPr>
              <a:t>Composite loss: L = 1.0·Charbonnier + 0.1·SSIM + 0.05·Focal Frequency. The three terms jointly optimize pixel accuracy, structural similarity and frequency-domain detail.</a:t>
            </a:r>
            <a:endParaRPr lang="en-US" sz="1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193086"/>
            <a:ext cx="5020056" cy="3065474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62202" y="3437636"/>
            <a:ext cx="18654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116939" y="4626356"/>
            <a:ext cx="4429354" cy="448056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500" b="0" dirty="0">
                <a:solidFill>
                  <a:srgbClr val="FFFFFF"/>
                </a:solidFill>
                <a:latin typeface="Aptos"/>
              </a:rPr>
              <a:t>Frequency-aware restoration. Focal Frequency Loss explicitly matches the restored and ground-truth frequency content, helping suppress broadband noise while retaining meaningful high-frequency semiconductor structures.</a:t>
            </a:r>
            <a:br>
              <a:rPr sz="1500" dirty="0"/>
            </a:br>
            <a:br>
              <a:rPr sz="1500" dirty="0"/>
            </a:br>
            <a:r>
              <a:rPr sz="1500" b="0" dirty="0">
                <a:solidFill>
                  <a:srgbClr val="FFFFFF"/>
                </a:solidFill>
                <a:latin typeface="Aptos"/>
              </a:rPr>
              <a:t>The model also uses a robust Charbonnier + SSIM + FFL composite objective and 8-fold geometric TTA.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210605" y="3193084"/>
            <a:ext cx="5020056" cy="3065476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372454" y="3408883"/>
            <a:ext cx="2812186" cy="49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349951" y="4844288"/>
            <a:ext cx="4413452" cy="314554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500" b="0" dirty="0">
                <a:solidFill>
                  <a:srgbClr val="FFFFFF"/>
                </a:solidFill>
                <a:latin typeface="Aptos"/>
              </a:rPr>
              <a:t>Unlike a slow two-stage “denoise then upscale” pipeline, </a:t>
            </a:r>
            <a:r>
              <a:rPr sz="1500" b="0" dirty="0" err="1">
                <a:solidFill>
                  <a:srgbClr val="FFFFFF"/>
                </a:solidFill>
                <a:latin typeface="Aptos"/>
              </a:rPr>
              <a:t>MAAVForge</a:t>
            </a:r>
            <a:r>
              <a:rPr sz="1500" b="0" dirty="0">
                <a:solidFill>
                  <a:srgbClr val="FFFFFF"/>
                </a:solidFill>
                <a:latin typeface="Aptos"/>
              </a:rPr>
              <a:t> performs both tasks in one compact model.</a:t>
            </a:r>
            <a:br>
              <a:rPr sz="1500" dirty="0"/>
            </a:br>
            <a:br>
              <a:rPr sz="1500" dirty="0"/>
            </a:br>
            <a:r>
              <a:rPr sz="1500" b="0" dirty="0">
                <a:solidFill>
                  <a:srgbClr val="FFFFFF"/>
                </a:solidFill>
                <a:latin typeface="Aptos"/>
              </a:rPr>
              <a:t>• ~4.26M parameters</a:t>
            </a:r>
            <a:br>
              <a:rPr sz="1500" dirty="0"/>
            </a:br>
            <a:r>
              <a:rPr sz="1500" b="0" dirty="0">
                <a:solidFill>
                  <a:srgbClr val="FFFFFF"/>
                </a:solidFill>
                <a:latin typeface="Aptos"/>
              </a:rPr>
              <a:t>• </a:t>
            </a:r>
            <a:r>
              <a:rPr sz="1500" b="0" dirty="0" err="1">
                <a:solidFill>
                  <a:srgbClr val="FFFFFF"/>
                </a:solidFill>
                <a:latin typeface="Aptos"/>
              </a:rPr>
              <a:t>PixelShuffle</a:t>
            </a:r>
            <a:r>
              <a:rPr sz="1500" b="0" dirty="0">
                <a:solidFill>
                  <a:srgbClr val="FFFFFF"/>
                </a:solidFill>
                <a:latin typeface="Aptos"/>
              </a:rPr>
              <a:t> avoids transposed-convolution artifacts</a:t>
            </a:r>
            <a:br>
              <a:rPr sz="1500" dirty="0"/>
            </a:br>
            <a:r>
              <a:rPr sz="1500" b="0" dirty="0">
                <a:solidFill>
                  <a:srgbClr val="FFFFFF"/>
                </a:solidFill>
                <a:latin typeface="Aptos"/>
              </a:rPr>
              <a:t>• </a:t>
            </a:r>
            <a:r>
              <a:rPr sz="1500" b="0" dirty="0" err="1">
                <a:solidFill>
                  <a:srgbClr val="FFFFFF"/>
                </a:solidFill>
                <a:latin typeface="Aptos"/>
              </a:rPr>
              <a:t>SimpleGate</a:t>
            </a:r>
            <a:r>
              <a:rPr sz="1500" b="0" dirty="0">
                <a:solidFill>
                  <a:srgbClr val="FFFFFF"/>
                </a:solidFill>
                <a:latin typeface="Aptos"/>
              </a:rPr>
              <a:t>-based </a:t>
            </a:r>
            <a:r>
              <a:rPr sz="1500" b="0" dirty="0" err="1">
                <a:solidFill>
                  <a:srgbClr val="FFFFFF"/>
                </a:solidFill>
                <a:latin typeface="Aptos"/>
              </a:rPr>
              <a:t>NAFNet</a:t>
            </a:r>
            <a:r>
              <a:rPr sz="1500" b="0" dirty="0">
                <a:solidFill>
                  <a:srgbClr val="FFFFFF"/>
                </a:solidFill>
                <a:latin typeface="Aptos"/>
              </a:rPr>
              <a:t> blocks are efficient</a:t>
            </a:r>
            <a:br>
              <a:rPr sz="1500" dirty="0"/>
            </a:br>
            <a:r>
              <a:rPr sz="1500" b="0" dirty="0">
                <a:solidFill>
                  <a:srgbClr val="FFFFFF"/>
                </a:solidFill>
                <a:latin typeface="Aptos"/>
              </a:rPr>
              <a:t>• ~62 </a:t>
            </a:r>
            <a:r>
              <a:rPr sz="1500" b="0" dirty="0" err="1">
                <a:solidFill>
                  <a:srgbClr val="FFFFFF"/>
                </a:solidFill>
                <a:latin typeface="Aptos"/>
              </a:rPr>
              <a:t>ms</a:t>
            </a:r>
            <a:r>
              <a:rPr sz="1500" b="0" dirty="0">
                <a:solidFill>
                  <a:srgbClr val="FFFFFF"/>
                </a:solidFill>
                <a:latin typeface="Aptos"/>
              </a:rPr>
              <a:t>/image on NVIDIA T4</a:t>
            </a:r>
            <a:br>
              <a:rPr sz="1500" dirty="0"/>
            </a:br>
            <a:r>
              <a:rPr sz="1500" b="0" dirty="0">
                <a:solidFill>
                  <a:srgbClr val="FFFFFF"/>
                </a:solidFill>
                <a:latin typeface="Aptos"/>
              </a:rPr>
              <a:t>• Benchmark-friendly standalone inference pipeline</a:t>
            </a:r>
            <a:endParaRPr lang="en-US" sz="15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2200" b="1">
                <a:solidFill>
                  <a:srgbClr val="FFFFFF"/>
                </a:solidFill>
                <a:latin typeface="Aptos"/>
              </a:rPr>
              <a:t>Results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39546" y="215950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10996" y="233095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2584245"/>
            <a:ext cx="10239451" cy="68580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600" b="0" dirty="0">
                <a:solidFill>
                  <a:srgbClr val="D6E7EF"/>
                </a:solidFill>
                <a:latin typeface="Aptos"/>
              </a:rPr>
              <a:t>Validation performance and direct visual evidence from </a:t>
            </a:r>
            <a:r>
              <a:rPr sz="1600" b="0" dirty="0" err="1">
                <a:solidFill>
                  <a:srgbClr val="D6E7EF"/>
                </a:solidFill>
                <a:latin typeface="Aptos"/>
              </a:rPr>
              <a:t>MAAVForge</a:t>
            </a:r>
            <a:r>
              <a:rPr sz="1600" b="0" dirty="0">
                <a:solidFill>
                  <a:srgbClr val="D6E7EF"/>
                </a:solidFill>
                <a:latin typeface="Aptos"/>
              </a:rPr>
              <a:t> restoration outputs.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39546" y="3428999"/>
            <a:ext cx="5020056" cy="3047695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67917" y="3553509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58570" y="3461917"/>
            <a:ext cx="4123458" cy="928069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r>
              <a:rPr sz="1300" b="1" dirty="0">
                <a:solidFill>
                  <a:schemeClr val="bg1"/>
                </a:solidFill>
                <a:latin typeface="Aptos" panose="020B0004020202020204" pitchFamily="34" charset="0"/>
              </a:rPr>
              <a:t>Visual Evidence</a:t>
            </a:r>
            <a:r>
              <a:rPr lang="en-IN" sz="1300" b="1" dirty="0">
                <a:solidFill>
                  <a:schemeClr val="bg1"/>
                </a:solidFill>
                <a:latin typeface="Aptos" panose="020B0004020202020204" pitchFamily="34" charset="0"/>
              </a:rPr>
              <a:t>  (Test Set Sample: 000041.npy)"</a:t>
            </a:r>
            <a:r>
              <a:rPr lang="en-IN" sz="1300" dirty="0">
                <a:solidFill>
                  <a:schemeClr val="bg1"/>
                </a:solidFill>
                <a:latin typeface="Aptos" panose="020B0004020202020204" pitchFamily="34" charset="0"/>
              </a:rPr>
              <a:t> </a:t>
            </a:r>
          </a:p>
          <a:p>
            <a:r>
              <a:rPr lang="en-IN" sz="1300" dirty="0">
                <a:solidFill>
                  <a:schemeClr val="bg1"/>
                </a:solidFill>
                <a:latin typeface="Aptos" panose="020B0004020202020204" pitchFamily="34" charset="0"/>
              </a:rPr>
              <a:t>Left: Original degraded 128×128 input (Multiplicative Speckle Noise). Right: </a:t>
            </a:r>
            <a:r>
              <a:rPr lang="en-IN" sz="1300" dirty="0" err="1">
                <a:solidFill>
                  <a:schemeClr val="bg1"/>
                </a:solidFill>
                <a:latin typeface="Aptos" panose="020B0004020202020204" pitchFamily="34" charset="0"/>
              </a:rPr>
              <a:t>MAAVForge</a:t>
            </a:r>
            <a:r>
              <a:rPr lang="en-IN" sz="1300" dirty="0">
                <a:solidFill>
                  <a:schemeClr val="bg1"/>
                </a:solidFill>
                <a:latin typeface="Aptos" panose="020B0004020202020204" pitchFamily="34" charset="0"/>
              </a:rPr>
              <a:t> 256×256 reconstruction (Denoised &amp; 2x Super-Resolution).</a:t>
            </a:r>
            <a:endParaRPr lang="en-US" sz="13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 13"/>
          <p:cNvSpPr txBox="1"/>
          <p:nvPr/>
        </p:nvSpPr>
        <p:spPr>
          <a:xfrm>
            <a:off x="1225296" y="3886556"/>
            <a:ext cx="4148633" cy="381305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endParaRPr lang="en-US" sz="13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6181344" y="3382366"/>
            <a:ext cx="5020056" cy="309432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321247" y="3495292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531102" y="3461917"/>
            <a:ext cx="1924812" cy="219456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500" b="1" dirty="0">
                <a:solidFill>
                  <a:srgbClr val="FFFFFF"/>
                </a:solidFill>
                <a:latin typeface="Aptos"/>
              </a:rPr>
              <a:t>Validation Metrics</a:t>
            </a:r>
            <a:endParaRPr lang="en-IN" sz="15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 16"/>
          <p:cNvSpPr txBox="1"/>
          <p:nvPr/>
        </p:nvSpPr>
        <p:spPr>
          <a:xfrm>
            <a:off x="6407200" y="4548224"/>
            <a:ext cx="3986784" cy="381305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400" b="0" dirty="0">
                <a:solidFill>
                  <a:srgbClr val="FFFFFF"/>
                </a:solidFill>
                <a:latin typeface="Aptos"/>
              </a:rPr>
              <a:t>PSNR  ↑  26.97 dB</a:t>
            </a:r>
            <a:endParaRPr lang="en-IN" sz="1400" b="0" dirty="0">
              <a:solidFill>
                <a:srgbClr val="FFFFFF"/>
              </a:solidFill>
              <a:latin typeface="Aptos"/>
            </a:endParaRPr>
          </a:p>
          <a:p>
            <a:pPr marL="0" indent="0" algn="l">
              <a:buNone/>
            </a:pPr>
            <a:br>
              <a:rPr sz="1400" dirty="0"/>
            </a:br>
            <a:r>
              <a:rPr sz="1400" b="0" dirty="0">
                <a:solidFill>
                  <a:srgbClr val="FFFFFF"/>
                </a:solidFill>
                <a:latin typeface="Aptos"/>
              </a:rPr>
              <a:t>SSIM  ↑  0.7570</a:t>
            </a:r>
            <a:br>
              <a:rPr sz="1400" dirty="0"/>
            </a:br>
            <a:r>
              <a:rPr lang="en-IN" sz="1400" b="0" dirty="0">
                <a:solidFill>
                  <a:srgbClr val="FFFFFF"/>
                </a:solidFill>
                <a:latin typeface="Aptos"/>
              </a:rPr>
              <a:t>LPIPS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: not evaluated</a:t>
            </a:r>
            <a:br>
              <a:rPr sz="1400" dirty="0"/>
            </a:br>
            <a:br>
              <a:rPr sz="1400" dirty="0"/>
            </a:br>
            <a:r>
              <a:rPr sz="1400" b="0" dirty="0">
                <a:solidFill>
                  <a:srgbClr val="FFFFFF"/>
                </a:solidFill>
                <a:latin typeface="Aptos"/>
              </a:rPr>
              <a:t>~62 </a:t>
            </a:r>
            <a:r>
              <a:rPr sz="1400" b="0" dirty="0" err="1">
                <a:solidFill>
                  <a:srgbClr val="FFFFFF"/>
                </a:solidFill>
                <a:latin typeface="Aptos"/>
              </a:rPr>
              <a:t>ms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/image on NVIDIA T4</a:t>
            </a:r>
            <a:br>
              <a:rPr sz="1400" dirty="0"/>
            </a:br>
            <a:r>
              <a:rPr sz="1400" b="0" dirty="0">
                <a:solidFill>
                  <a:srgbClr val="FFFFFF"/>
                </a:solidFill>
                <a:latin typeface="Aptos"/>
              </a:rPr>
              <a:t>100 epochs • ~1 h 45 min training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E345169-4EBC-C85E-3191-B301A21E28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4269" y="4448203"/>
            <a:ext cx="3997043" cy="19830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62049" y="2669134"/>
            <a:ext cx="9467698" cy="2371953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861718" y="2841041"/>
            <a:ext cx="2811882" cy="383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861718" y="3844341"/>
            <a:ext cx="8748979" cy="505663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300" b="0" dirty="0">
                <a:solidFill>
                  <a:srgbClr val="FFFFFF"/>
                </a:solidFill>
                <a:latin typeface="Aptos"/>
              </a:rPr>
              <a:t>Software: Python 3.10+, </a:t>
            </a:r>
            <a:r>
              <a:rPr sz="1300" b="0" dirty="0" err="1">
                <a:solidFill>
                  <a:srgbClr val="FFFFFF"/>
                </a:solidFill>
                <a:latin typeface="Aptos"/>
              </a:rPr>
              <a:t>PyTorch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2.0+, CUDA, Automatic Mixed Precision.</a:t>
            </a:r>
            <a:br>
              <a:rPr sz="1300" dirty="0"/>
            </a:br>
            <a:br>
              <a:rPr sz="1300" dirty="0"/>
            </a:br>
            <a:r>
              <a:rPr sz="1300" b="0" dirty="0">
                <a:solidFill>
                  <a:srgbClr val="FFFFFF"/>
                </a:solidFill>
                <a:latin typeface="Aptos"/>
              </a:rPr>
              <a:t>Model: </a:t>
            </a:r>
            <a:r>
              <a:rPr sz="1300" b="0" dirty="0" err="1">
                <a:solidFill>
                  <a:srgbClr val="FFFFFF"/>
                </a:solidFill>
                <a:latin typeface="Aptos"/>
              </a:rPr>
              <a:t>NAFNet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-SR, 4,257,412 parameters, grayscale 128×128 → 256×256.</a:t>
            </a:r>
            <a:br>
              <a:rPr sz="1300" dirty="0"/>
            </a:br>
            <a:br>
              <a:rPr sz="1300" dirty="0"/>
            </a:br>
            <a:r>
              <a:rPr sz="1300" b="0" dirty="0">
                <a:solidFill>
                  <a:srgbClr val="FFFFFF"/>
                </a:solidFill>
                <a:latin typeface="Aptos"/>
              </a:rPr>
              <a:t>Training: NVIDIA T4 GPU, batch size 8, 100 epochs, </a:t>
            </a:r>
            <a:r>
              <a:rPr sz="1300" b="0" dirty="0" err="1">
                <a:solidFill>
                  <a:srgbClr val="FFFFFF"/>
                </a:solidFill>
                <a:latin typeface="Aptos"/>
              </a:rPr>
              <a:t>AdamW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+ cosine annealing. Standalone evaluation script accepts an input directory and output directory with no manual edits.</a:t>
            </a:r>
            <a:br>
              <a:rPr sz="1300" dirty="0"/>
            </a:br>
            <a:br>
              <a:rPr sz="1300" dirty="0"/>
            </a:br>
            <a:r>
              <a:rPr sz="1300" b="0" dirty="0">
                <a:solidFill>
                  <a:srgbClr val="FFFFFF"/>
                </a:solidFill>
                <a:latin typeface="Aptos"/>
              </a:rPr>
              <a:t>Feasibility: compact architecture and reproducible scripts are designed for fast benchmarking and deployment.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19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2481682" y="5451653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861718" y="5823814"/>
            <a:ext cx="1608430" cy="19111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</a:rPr>
              <a:t>NAFNet-SR</a:t>
            </a:r>
            <a:br/>
            <a:r>
              <a:rPr sz="800" b="1">
                <a:solidFill>
                  <a:srgbClr val="FFFFFF"/>
                </a:solidFill>
                <a:latin typeface="Aptos"/>
              </a:rPr>
              <a:t>PyTorch + CUDA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448556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2005" y="5451653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87061" y="5823814"/>
            <a:ext cx="1722730" cy="19111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</a:rPr>
              <a:t>NVIDIA T4</a:t>
            </a:r>
            <a:br/>
            <a:r>
              <a:rPr sz="800" b="1">
                <a:solidFill>
                  <a:srgbClr val="FFFFFF"/>
                </a:solidFill>
                <a:latin typeface="Aptos"/>
              </a:rPr>
              <a:t>GPU Training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9342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67698" y="5451653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19058" y="5823814"/>
            <a:ext cx="1436522" cy="19111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</a:rPr>
              <a:t>Python</a:t>
            </a:r>
            <a:br/>
            <a:r>
              <a:rPr sz="800" b="1">
                <a:solidFill>
                  <a:srgbClr val="FFFFFF"/>
                </a:solidFill>
                <a:latin typeface="Aptos"/>
              </a:rPr>
              <a:t>GitHub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66644" y="3487522"/>
            <a:ext cx="5301996" cy="200253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ctr">
              <a:buNone/>
            </a:pPr>
            <a:r>
              <a:rPr sz="1300" b="1" dirty="0">
                <a:solidFill>
                  <a:srgbClr val="FFFFFF"/>
                </a:solidFill>
                <a:latin typeface="Aptos"/>
              </a:rPr>
              <a:t>https://github.com/Maadeshwar/KLA-FARR-Restoration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6" y="5239511"/>
            <a:ext cx="6943344" cy="267005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</a:rPr>
              <a:t>https://drive.google.com/file/d/1lM5HDFQPe_RUyjsTQRMbDymVJWtwDH-g/view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5056734" cy="410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628546" y="2783434"/>
            <a:ext cx="9601200" cy="1067105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0395" y="2945282"/>
            <a:ext cx="7627925" cy="715062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400" b="0" dirty="0" err="1">
                <a:solidFill>
                  <a:srgbClr val="FFFFFF"/>
                </a:solidFill>
                <a:latin typeface="Aptos"/>
              </a:rPr>
              <a:t>MAAVForge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is grounded in efficient convolutional image restoration, robust pixel-domain reconstruction, structural similarity optimization and frequency-domain loss design. The architecture is tailored to simultaneous noise suppression and 2× super-resolution of paired grayscale semiconductor images.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61949" y="4155034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4279392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4155034"/>
            <a:ext cx="383408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1628546" y="4497934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628546" y="4764938"/>
            <a:ext cx="9601200" cy="1410005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0394" y="4926787"/>
            <a:ext cx="6703365" cy="229514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200" b="0" dirty="0">
                <a:solidFill>
                  <a:srgbClr val="FFFFFF"/>
                </a:solidFill>
                <a:latin typeface="Aptos"/>
              </a:rPr>
              <a:t>Chen et al. — Simple Baselines for Image Restoration (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NAFNet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), ECCV 2022.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 txBox="1"/>
          <p:nvPr/>
        </p:nvSpPr>
        <p:spPr>
          <a:xfrm>
            <a:off x="1790395" y="5355641"/>
            <a:ext cx="7749845" cy="219455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200" b="0" dirty="0">
                <a:solidFill>
                  <a:srgbClr val="FFFFFF"/>
                </a:solidFill>
                <a:latin typeface="Aptos"/>
              </a:rPr>
              <a:t>Shi et al. — Real-Time Single Image and Video Super-Resolution Using Efficient Sub-Pixel Convolution.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790395" y="5783580"/>
            <a:ext cx="7414565" cy="161825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marL="0" indent="0" algn="l">
              <a:buNone/>
            </a:pPr>
            <a:r>
              <a:rPr sz="1200" b="0" dirty="0">
                <a:solidFill>
                  <a:srgbClr val="FFFFFF"/>
                </a:solidFill>
                <a:latin typeface="Aptos"/>
              </a:rPr>
              <a:t>Wang et al. — Image Quality Assessment: From Error Visibility to Structural Similarity (SSIM).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782</Words>
  <Application>Microsoft Office PowerPoint</Application>
  <PresentationFormat>Widescreen</PresentationFormat>
  <Paragraphs>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Maadeshwar D V</cp:lastModifiedBy>
  <cp:revision>14</cp:revision>
  <dcterms:created xsi:type="dcterms:W3CDTF">2026-01-15T05:38:47Z</dcterms:created>
  <dcterms:modified xsi:type="dcterms:W3CDTF">2026-08-15T19:19:01Z</dcterms:modified>
</cp:coreProperties>
</file>